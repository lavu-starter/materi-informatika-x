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</ns0:sldIdLst>
  <ns0:sldSz cx="12192000" cy="6858000" type="screen4x3"/>
  <ns0:notesSz cx="6858000" cy="9144000"/>
  <ns0:embeddedFontLst>
    <ns0:embeddedFont>
      <ns0:font typeface="Plus Jakarta Sans"/>
      <ns0:bold ns1:id="rIdFont28"/>
      <ns0:italic ns1:id="rIdFont29"/>
      <ns0:regular ns1:id="rIdFont30"/>
    </ns0:embeddedFont>
    <ns0:embeddedFont>
      <ns0:font typeface="Fira Code"/>
      <ns0:bold ns1:id="rIdFont31"/>
      <ns0:regular ns1:id="rIdFont3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Font28" Type="http://schemas.openxmlformats.org/officeDocument/2006/relationships/font" Target="fonts/a8e3795c-0ec4-41ef-990c-4b6044c300cb.fntdata" /><ns0:Relationship Id="rIdFont29" Type="http://schemas.openxmlformats.org/officeDocument/2006/relationships/font" Target="fonts/3e0eb8be-9ee5-4867-9da0-0ae9f933b073.fntdata" /><ns0:Relationship Id="rIdFont30" Type="http://schemas.openxmlformats.org/officeDocument/2006/relationships/font" Target="fonts/2b10de5d-e272-4470-bac2-b82a88ba8014.fntdata" /><ns0:Relationship Id="rIdFont31" Type="http://schemas.openxmlformats.org/officeDocument/2006/relationships/font" Target="fonts/d3238cb3-0e7e-4eb9-afc4-48f9e4a1dd95.fntdata" /><ns0:Relationship Id="rIdFont32" Type="http://schemas.openxmlformats.org/officeDocument/2006/relationships/font" Target="fonts/ae8cb527-c830-4df2-bdf0-0cbd4d51174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60364"/>
            <a:ext cx="3038475" cy="2857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54685"/>
            <a:ext cx="5257800" cy="742950"/>
          </a:xfrm>
          <a:prstGeom prst="roundRect">
            <a:avLst>
              <a:gd name="adj" fmla="val 1025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154685"/>
            <a:ext cx="38100" cy="7429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14300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017514"/>
            <a:ext cx="2828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PEMROGRAMAN DASAR | KELAS X TKJ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36614"/>
            <a:ext cx="5620702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PEMROGRAMAN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40335"/>
            <a:ext cx="69008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Lanjutan Percabangan IF–ELSE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307085"/>
            <a:ext cx="604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Materi: </a:t>
            </a:r>
            <a:r>
              <a:rPr b="1" sz="1350" i="0" u="none">
                <a:solidFill>
                  <a:srgbClr val="FFFFFF"/>
                </a:solidFill>
                <a:latin typeface="Plus Jakarta Sans"/>
              </a:rPr>
              <a:t>IF–ELIF–ELSE &amp; Nested 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564260"/>
            <a:ext cx="6048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Belajar Membuat Program yang Dapat Mengambil Keputusan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15550" y="590550"/>
            <a:ext cx="1466850" cy="352425"/>
          </a:xfrm>
          <a:prstGeom prst="roundRect">
            <a:avLst>
              <a:gd name="adj" fmla="val 2162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52725"/>
            <a:ext cx="5600700" cy="2276475"/>
          </a:xfrm>
          <a:prstGeom prst="roundRect">
            <a:avLst>
              <a:gd name="adj" fmla="val 502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5100" y="2609850"/>
            <a:ext cx="5067300" cy="1209675"/>
          </a:xfrm>
          <a:prstGeom prst="roundRect">
            <a:avLst>
              <a:gd name="adj" fmla="val 944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5100" y="4010025"/>
            <a:ext cx="50673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15100" y="2609850"/>
            <a:ext cx="57150" cy="1209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2750" y="4572000"/>
            <a:ext cx="1162050" cy="352425"/>
          </a:xfrm>
          <a:prstGeom prst="roundRect">
            <a:avLst>
              <a:gd name="adj" fmla="val 1621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9100" y="4572000"/>
            <a:ext cx="619125" cy="352425"/>
          </a:xfrm>
          <a:prstGeom prst="roundRect">
            <a:avLst>
              <a:gd name="adj" fmla="val 1621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2525" y="4572000"/>
            <a:ext cx="781050" cy="352425"/>
          </a:xfrm>
          <a:prstGeom prst="roundRect">
            <a:avLst>
              <a:gd name="adj" fmla="val 1621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67875" y="4572000"/>
            <a:ext cx="819150" cy="352425"/>
          </a:xfrm>
          <a:prstGeom prst="roundRect">
            <a:avLst>
              <a:gd name="adj" fmla="val 16216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2876550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32480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REVIEW MATERI SEBELUMNYA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7950" y="666750"/>
            <a:ext cx="1257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2 Pilihan Kondisi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413801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Masih Ingat IF–ELSE?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019425"/>
            <a:ext cx="6334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Fira Code"/>
              </a:rPr>
              <a:t># Contoh Program IF-ELSE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314700"/>
            <a:ext cx="6334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59E0B"/>
                </a:solidFill>
                <a:latin typeface="Fira Code"/>
              </a:rPr>
              <a:t>nilai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 = </a:t>
            </a:r>
            <a:r>
              <a:rPr b="0" sz="1350" i="0" u="none">
                <a:solidFill>
                  <a:srgbClr val="38BDF8"/>
                </a:solidFill>
                <a:latin typeface="Fira Code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619500"/>
            <a:ext cx="6334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43F5E"/>
                </a:solidFill>
                <a:latin typeface="Fira Code"/>
              </a:rPr>
              <a:t>if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 nilai &gt;= </a:t>
            </a:r>
            <a:r>
              <a:rPr b="0" sz="1350" i="0" u="none">
                <a:solidFill>
                  <a:srgbClr val="38BDF8"/>
                </a:solidFill>
                <a:latin typeface="Fira Code"/>
              </a:rPr>
              <a:t>75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3924300"/>
            <a:ext cx="6048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350" i="0" u="none">
                <a:solidFill>
                  <a:srgbClr val="A3E635"/>
                </a:solidFill>
                <a:latin typeface="Fira Code"/>
              </a:rPr>
              <a:t>"Lulus"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229100"/>
            <a:ext cx="6334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43F5E"/>
                </a:solidFill>
                <a:latin typeface="Fira Code"/>
              </a:rPr>
              <a:t>else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4533900"/>
            <a:ext cx="6048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350" i="0" u="none">
                <a:solidFill>
                  <a:srgbClr val="A3E635"/>
                </a:solidFill>
                <a:latin typeface="Fira Code"/>
              </a:rPr>
              <a:t>"Tidak Lulus"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0850" y="2838450"/>
            <a:ext cx="5391150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Pertanyaan Refleksi: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0850" y="3152775"/>
            <a:ext cx="464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Bagaimana jika predikat siswa bukan hanya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Lulus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atau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Tidak Lulus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0" y="4257675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Plus Jakarta Sans"/>
              </a:rPr>
              <a:t>Kebutuhan Penilaian Berganda: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4648200"/>
            <a:ext cx="95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Plus Jakarta Sans"/>
              </a:rPr>
              <a:t>Sangat Baik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4648200"/>
            <a:ext cx="4095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Baik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925" y="4648200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45309"/>
                </a:solidFill>
                <a:latin typeface="Plus Jakarta Sans"/>
              </a:rPr>
              <a:t>Cukup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275" y="4648200"/>
            <a:ext cx="609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E123C"/>
                </a:solidFill>
                <a:latin typeface="Plus Jakarta Sans"/>
              </a:rPr>
              <a:t>Kurang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0812"/>
            <a:ext cx="5105400" cy="24003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0" y="2690812"/>
            <a:ext cx="5105400" cy="24003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301466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33800"/>
            <a:ext cx="3048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900" y="3014662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3237" y="3186112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7300" y="3186112"/>
            <a:ext cx="3048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EVOLUSI LOGIKA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Bagaimana Jika Kondisinya Banyak?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934" y="3776662"/>
            <a:ext cx="58507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IF–ELSE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237" y="4119562"/>
            <a:ext cx="55721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EF4444"/>
                </a:solidFill>
                <a:latin typeface="Plus Jakarta Sans"/>
              </a:rPr>
              <a:t>2 Kemungkinan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237" y="4567237"/>
            <a:ext cx="5572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Lulus atau Tidak Lulus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4334" y="3776662"/>
            <a:ext cx="58507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IF–ELIF–ELSE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3637" y="4119562"/>
            <a:ext cx="55721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Plus Jakarta Sans"/>
              </a:rPr>
              <a:t>Beberapa Kemungkinan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3637" y="4567237"/>
            <a:ext cx="5572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Nilai Siswa: A, B, C, atau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495550"/>
            <a:ext cx="5600700" cy="2790825"/>
          </a:xfrm>
          <a:prstGeom prst="roundRect">
            <a:avLst>
              <a:gd name="adj" fmla="val 40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81212"/>
            <a:ext cx="5067300" cy="819150"/>
          </a:xfrm>
          <a:prstGeom prst="roundRect">
            <a:avLst>
              <a:gd name="adj" fmla="val 1162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52762"/>
            <a:ext cx="5067300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957637"/>
            <a:ext cx="5067300" cy="83820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948237"/>
            <a:ext cx="5067300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55159" y="2762250"/>
            <a:ext cx="4053780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55159" y="3657600"/>
            <a:ext cx="4053780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55159" y="4552950"/>
            <a:ext cx="4053780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625" y="3252787"/>
            <a:ext cx="495300" cy="352425"/>
          </a:xfrm>
          <a:prstGeom prst="roundRect">
            <a:avLst>
              <a:gd name="adj" fmla="val 16216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625" y="4200525"/>
            <a:ext cx="685800" cy="352425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625" y="5148262"/>
            <a:ext cx="685800" cy="352425"/>
          </a:xfrm>
          <a:prstGeom prst="roundRect">
            <a:avLst>
              <a:gd name="adj" fmla="val 16216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712" y="3371850"/>
            <a:ext cx="1143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712" y="4267200"/>
            <a:ext cx="1143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KONSEP UTAMA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Apa Itu IF–ELIF–ELSE?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37" y="2876550"/>
            <a:ext cx="46100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Cek Kondisi 1 (IF)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7712" y="3343275"/>
            <a:ext cx="1114425" cy="200025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Jika Salah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37" y="3771900"/>
            <a:ext cx="46100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Cek Kondisi 2 (ELIF)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7712" y="4238625"/>
            <a:ext cx="1114425" cy="200025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Jika Salah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37" y="4667250"/>
            <a:ext cx="46100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Jalankan Default (ELSE)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233612"/>
            <a:ext cx="47053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IF–ELIF–ELSE digunakan untuk memeriksa beberapa kondisi secara berurutan dari atas ke bawah.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332898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Fira Code"/>
              </a:rPr>
              <a:t>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7325" y="3319462"/>
            <a:ext cx="28694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Memeriksa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kondisi pertama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" y="4276725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Fira Code"/>
              </a:rPr>
              <a:t>elif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7825" y="4157662"/>
            <a:ext cx="39243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Singkatan dari </a:t>
            </a:r>
            <a:r>
              <a:rPr b="0" sz="1350" i="1" u="none">
                <a:solidFill>
                  <a:srgbClr val="334155"/>
                </a:solidFill>
                <a:latin typeface="Plus Jakarta Sans"/>
              </a:rPr>
              <a:t>else if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, memeriksa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kondisi berikutnya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025" y="522446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Fira Code"/>
              </a:rPr>
              <a:t>else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7825" y="5214937"/>
            <a:ext cx="3964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Pilihan terakhir jika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semua kondisi salah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95512"/>
            <a:ext cx="6061323" cy="33147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75723" y="2628900"/>
            <a:ext cx="4606676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75723" y="3495675"/>
            <a:ext cx="4606676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75723" y="4362450"/>
            <a:ext cx="4606676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75723" y="2628900"/>
            <a:ext cx="38100" cy="7143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5723" y="3495675"/>
            <a:ext cx="38100" cy="7143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75723" y="4362450"/>
            <a:ext cx="38100" cy="7143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SINTAKS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Struktur Dasar Sintaks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462212"/>
            <a:ext cx="69099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43F5E"/>
                </a:solidFill>
                <a:latin typeface="Fira Code"/>
              </a:rPr>
              <a:t>if</a:t>
            </a:r>
            <a:r>
              <a:rPr b="0" sz="1500" i="0" u="none">
                <a:solidFill>
                  <a:srgbClr val="F8FAFC"/>
                </a:solidFill>
                <a:latin typeface="Fira Code"/>
              </a:rPr>
              <a:t> kondisi1: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24162"/>
            <a:ext cx="657652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0B981"/>
                </a:solidFill>
                <a:latin typeface="Fira Code"/>
              </a:rPr>
              <a:t>aksi1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186112"/>
            <a:ext cx="69099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Fira Code"/>
              </a:rPr>
              <a:t>elif</a:t>
            </a:r>
            <a:r>
              <a:rPr b="0" sz="1500" i="0" u="none">
                <a:solidFill>
                  <a:srgbClr val="F8FAFC"/>
                </a:solidFill>
                <a:latin typeface="Fira Code"/>
              </a:rPr>
              <a:t> kondisi2: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48062"/>
            <a:ext cx="657652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0B981"/>
                </a:solidFill>
                <a:latin typeface="Fira Code"/>
              </a:rPr>
              <a:t>aksi2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910012"/>
            <a:ext cx="69099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Fira Code"/>
              </a:rPr>
              <a:t>elif</a:t>
            </a:r>
            <a:r>
              <a:rPr b="0" sz="1500" i="0" u="none">
                <a:solidFill>
                  <a:srgbClr val="F8FAFC"/>
                </a:solidFill>
                <a:latin typeface="Fira Code"/>
              </a:rPr>
              <a:t> kondisi3: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71962"/>
            <a:ext cx="657652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0B981"/>
                </a:solidFill>
                <a:latin typeface="Fira Code"/>
              </a:rPr>
              <a:t>aksi3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633912"/>
            <a:ext cx="69099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43F5E"/>
                </a:solidFill>
                <a:latin typeface="Fira Code"/>
              </a:rPr>
              <a:t>else</a:t>
            </a:r>
            <a:r>
              <a:rPr b="0" sz="1500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995862"/>
            <a:ext cx="657652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0B981"/>
                </a:solidFill>
                <a:latin typeface="Fira Code"/>
              </a:rPr>
              <a:t>aksi4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6223" y="2781300"/>
            <a:ext cx="502577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1. Wajib Titik Dua ( :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6223" y="3019425"/>
            <a:ext cx="502577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Setiap blok kondisi wajib diakhiri simbol titik dua.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6223" y="3648075"/>
            <a:ext cx="502577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2. Indentasi (Tab / 4 Spasi)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6223" y="3886200"/>
            <a:ext cx="502577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Aksi harus menjorok ke dalam untuk menandai blok kode.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6223" y="4514850"/>
            <a:ext cx="502577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3. Fleksibilitas ELIF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6223" y="4752975"/>
            <a:ext cx="502577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Dapat menambahkan ELIF sebanyak yang dibutuhkan.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90762"/>
            <a:ext cx="5715000" cy="3124200"/>
          </a:xfrm>
          <a:prstGeom prst="roundRect">
            <a:avLst>
              <a:gd name="adj" fmla="val 365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29400" y="2366962"/>
            <a:ext cx="4953000" cy="2971651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15150" y="4624238"/>
            <a:ext cx="4381500" cy="428625"/>
          </a:xfrm>
          <a:prstGeom prst="roundRect">
            <a:avLst>
              <a:gd name="adj" fmla="val 1777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2690812"/>
            <a:ext cx="23812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STUDI KODE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Contoh: Kategori Nilai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519362"/>
            <a:ext cx="6572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59E0B"/>
                </a:solidFill>
                <a:latin typeface="Fira Code"/>
              </a:rPr>
              <a:t>nilai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 = </a:t>
            </a:r>
            <a:r>
              <a:rPr b="0" sz="1350" i="0" u="none">
                <a:solidFill>
                  <a:srgbClr val="38BDF8"/>
                </a:solidFill>
                <a:latin typeface="Fira Code"/>
              </a:rPr>
              <a:t>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824162"/>
            <a:ext cx="6572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43F5E"/>
                </a:solidFill>
                <a:latin typeface="Fira Code"/>
              </a:rPr>
              <a:t>if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 nilai &gt;= </a:t>
            </a:r>
            <a:r>
              <a:rPr b="0" sz="1350" i="0" u="none">
                <a:solidFill>
                  <a:srgbClr val="38BDF8"/>
                </a:solidFill>
                <a:latin typeface="Fira Code"/>
              </a:rPr>
              <a:t>90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128962"/>
            <a:ext cx="6286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350" i="0" u="none">
                <a:solidFill>
                  <a:srgbClr val="A3E635"/>
                </a:solidFill>
                <a:latin typeface="Fira Code"/>
              </a:rPr>
              <a:t>"Sangat Baik"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433762"/>
            <a:ext cx="6572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Fira Code"/>
              </a:rPr>
              <a:t>elif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 nilai &gt;= </a:t>
            </a:r>
            <a:r>
              <a:rPr b="0" sz="1350" i="0" u="none">
                <a:solidFill>
                  <a:srgbClr val="38BDF8"/>
                </a:solidFill>
                <a:latin typeface="Fira Code"/>
              </a:rPr>
              <a:t>80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738562"/>
            <a:ext cx="6286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350" i="0" u="none">
                <a:solidFill>
                  <a:srgbClr val="A3E635"/>
                </a:solidFill>
                <a:latin typeface="Fira Code"/>
              </a:rPr>
              <a:t>"Baik"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043362"/>
            <a:ext cx="6572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Fira Code"/>
              </a:rPr>
              <a:t>elif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 nilai &gt;= </a:t>
            </a:r>
            <a:r>
              <a:rPr b="0" sz="1350" i="0" u="none">
                <a:solidFill>
                  <a:srgbClr val="38BDF8"/>
                </a:solidFill>
                <a:latin typeface="Fira Code"/>
              </a:rPr>
              <a:t>70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348162"/>
            <a:ext cx="6286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350" i="0" u="none">
                <a:solidFill>
                  <a:srgbClr val="A3E635"/>
                </a:solidFill>
                <a:latin typeface="Fira Code"/>
              </a:rPr>
              <a:t>"Cukup"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652962"/>
            <a:ext cx="6572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43F5E"/>
                </a:solidFill>
                <a:latin typeface="Fira Code"/>
              </a:rPr>
              <a:t>else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957762"/>
            <a:ext cx="6286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350" i="0" u="none">
                <a:solidFill>
                  <a:srgbClr val="A3E635"/>
                </a:solidFill>
                <a:latin typeface="Fira Code"/>
              </a:rPr>
              <a:t>"Perlu Belajar"</a:t>
            </a:r>
            <a:r>
              <a:rPr b="0" sz="1350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2652712"/>
            <a:ext cx="5276850" cy="238125"/>
          </a:xfrm>
          <a:prstGeom prst="rect">
            <a:avLst/>
          </a:prstGeom>
          <a:noFill/>
        </p:spPr>
        <p:txBody>
          <a:bodyPr wrap="none" lIns="3143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Analisis Output (Nilai = 85):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7550" y="4738538"/>
            <a:ext cx="4171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Plus Jakarta Sans"/>
              </a:rPr>
              <a:t>Output Terminal: "Baik"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75" y="3042285"/>
            <a:ext cx="1047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5650" y="3043237"/>
            <a:ext cx="4286250" cy="558105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Cek </a:t>
            </a:r>
            <a:r>
              <a:rPr b="0" sz="1200" i="0" u="none">
                <a:solidFill>
                  <a:srgbClr val="BE123C"/>
                </a:solidFill>
                <a:latin typeface="Plus Jakarta Sans"/>
              </a:rPr>
              <a:t>85 &gt;= 90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→ </a:t>
            </a:r>
            <a:r>
              <a:rPr b="1" sz="1200" i="0" u="none">
                <a:solidFill>
                  <a:srgbClr val="334155"/>
                </a:solidFill>
                <a:latin typeface="Plus Jakarta Sans"/>
              </a:rPr>
              <a:t>Salah (False)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 Lanjut ke kondisi berikutnya.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2775" y="3600390"/>
            <a:ext cx="1428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5650" y="3601342"/>
            <a:ext cx="5086350" cy="283815"/>
          </a:xfrm>
          <a:prstGeom prst="rect">
            <a:avLst/>
          </a:prstGeom>
          <a:noFill/>
        </p:spPr>
        <p:txBody>
          <a:bodyPr wrap="none" lIns="1428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Cek </a:t>
            </a:r>
            <a:r>
              <a:rPr b="0" sz="1200" i="0" u="none">
                <a:solidFill>
                  <a:srgbClr val="0284C7"/>
                </a:solidFill>
                <a:latin typeface="Plus Jakarta Sans"/>
              </a:rPr>
              <a:t>85 &gt;= 80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→ </a:t>
            </a:r>
            <a:r>
              <a:rPr b="1" sz="1200" i="0" u="none">
                <a:solidFill>
                  <a:srgbClr val="334155"/>
                </a:solidFill>
                <a:latin typeface="Plus Jakarta Sans"/>
              </a:rPr>
              <a:t>Benar (True)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2775" y="3884205"/>
            <a:ext cx="1428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5650" y="3885158"/>
            <a:ext cx="4286250" cy="54858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Program mencetak </a:t>
            </a:r>
            <a:r>
              <a:rPr b="1" sz="1200" i="0" u="none">
                <a:solidFill>
                  <a:srgbClr val="334155"/>
                </a:solidFill>
                <a:latin typeface="Plus Jakarta Sans"/>
              </a:rPr>
              <a:t>"Baik"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dan menghentikan seluruh pemeriksaan.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43537" y="2371725"/>
            <a:ext cx="1304925" cy="390525"/>
          </a:xfrm>
          <a:prstGeom prst="roundRect">
            <a:avLst>
              <a:gd name="adj" fmla="val 487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06909" y="3190875"/>
            <a:ext cx="6206430" cy="428625"/>
          </a:xfrm>
          <a:prstGeom prst="roundRect">
            <a:avLst>
              <a:gd name="adj" fmla="val 17777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06909" y="4048125"/>
            <a:ext cx="6682680" cy="428625"/>
          </a:xfrm>
          <a:prstGeom prst="roundRect">
            <a:avLst>
              <a:gd name="adj" fmla="val 17777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6909" y="4905375"/>
            <a:ext cx="6006405" cy="428625"/>
          </a:xfrm>
          <a:prstGeom prst="roundRect">
            <a:avLst>
              <a:gd name="adj" fmla="val 17777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2905125"/>
            <a:ext cx="1143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3762375"/>
            <a:ext cx="1143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4619625"/>
            <a:ext cx="1143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VISUALISASI EKSEKUSI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Urutan Pemeriksaan Kondisi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72137" y="2466975"/>
            <a:ext cx="94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INPUT NILAI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1605" y="3305175"/>
            <a:ext cx="737703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Nilai &gt;= 90?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3840" y="3314700"/>
            <a:ext cx="1535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YA ➔ "Sangat Baik"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3065" y="3314700"/>
            <a:ext cx="12477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TIDAK ➔ Lanjut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2074" y="4162425"/>
            <a:ext cx="7972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Nilai &gt;= 80?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0090" y="4171950"/>
            <a:ext cx="10382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YA ➔ "Baik"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3065" y="4171950"/>
            <a:ext cx="12477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TIDAK ➔ Lanjut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609" y="5019675"/>
            <a:ext cx="712700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Nilai &gt;= 70?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3815" y="5029200"/>
            <a:ext cx="11715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YA ➔ "Cukup"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0140" y="5029200"/>
            <a:ext cx="188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TIDAK ➔ "Perlu Belajar"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0800"/>
            <a:ext cx="5372100" cy="2524125"/>
          </a:xfrm>
          <a:prstGeom prst="roundRect">
            <a:avLst>
              <a:gd name="adj" fmla="val 4528"/>
            </a:avLst>
          </a:prstGeom>
          <a:solidFill>
            <a:srgbClr val="FFF1F2"/>
          </a:solidFill>
          <a:ln w="1905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90800"/>
            <a:ext cx="5372100" cy="2524125"/>
          </a:xfrm>
          <a:prstGeom prst="roundRect">
            <a:avLst>
              <a:gd name="adj" fmla="val 4528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7250" y="3171825"/>
            <a:ext cx="4876800" cy="140970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57950" y="3171825"/>
            <a:ext cx="4876800" cy="140970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LOGIC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Perhatikan Urutan Kondisi!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838450"/>
            <a:ext cx="6400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E123C"/>
                </a:solidFill>
                <a:latin typeface="Plus Jakarta Sans"/>
              </a:rPr>
              <a:t>❌ Urutan Salah (Bug Logika):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695825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E123C"/>
                </a:solidFill>
                <a:latin typeface="Plus Jakarta Sans"/>
              </a:rPr>
              <a:t>Hasil Output: "Cukup" (Padahal nilai 95!)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7950" y="2838450"/>
            <a:ext cx="5734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Plus Jakarta Sans"/>
              </a:rPr>
              <a:t>BENAR Urutan Benar (Spesifik ke Umum):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950" y="4695825"/>
            <a:ext cx="57340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Hasil Output: "Sangat Baik" (Sesuai Logika)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324225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59E0B"/>
                </a:solidFill>
                <a:latin typeface="Fira Code"/>
              </a:rPr>
              <a:t>nilai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 =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3590925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43F5E"/>
                </a:solidFill>
                <a:latin typeface="Fira Code"/>
              </a:rPr>
              <a:t>if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 nilai &gt;=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70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3781425"/>
            <a:ext cx="5524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125" i="0" u="none">
                <a:solidFill>
                  <a:srgbClr val="A3E635"/>
                </a:solidFill>
                <a:latin typeface="Fira Code"/>
              </a:rPr>
              <a:t>"Cukup"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4048125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Fira Code"/>
              </a:rPr>
              <a:t>elif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 nilai &gt;=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90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238625"/>
            <a:ext cx="5524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125" i="0" u="none">
                <a:solidFill>
                  <a:srgbClr val="A3E635"/>
                </a:solidFill>
                <a:latin typeface="Fira Code"/>
              </a:rPr>
              <a:t>"Sangat Baik"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0350" y="3324225"/>
            <a:ext cx="5581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59E0B"/>
                </a:solidFill>
                <a:latin typeface="Fira Code"/>
              </a:rPr>
              <a:t>nilai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 =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3590925"/>
            <a:ext cx="5581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43F5E"/>
                </a:solidFill>
                <a:latin typeface="Fira Code"/>
              </a:rPr>
              <a:t>if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 nilai &gt;=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90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0" y="3781425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125" i="0" u="none">
                <a:solidFill>
                  <a:srgbClr val="A3E635"/>
                </a:solidFill>
                <a:latin typeface="Fira Code"/>
              </a:rPr>
              <a:t>"Sangat Baik"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0350" y="4048125"/>
            <a:ext cx="5581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Fira Code"/>
              </a:rPr>
              <a:t>elif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 nilai &gt;=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70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0" y="4238625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125" i="0" u="none">
                <a:solidFill>
                  <a:srgbClr val="A3E635"/>
                </a:solidFill>
                <a:latin typeface="Fira Code"/>
              </a:rPr>
              <a:t>"Cukup"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9400"/>
            <a:ext cx="1097280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819400"/>
          <a:ext cx="10972798" cy="20669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43262"/>
                <a:gridCol w="3834407"/>
                <a:gridCol w="3895129"/>
              </a:tblGrid>
              <a:tr h="51673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Kriteria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IF–ELSE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IF–ELIF–ELSE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Jumlah Kemungkinan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Tepat 2 kemungkinan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Banyak kemungkinan (&gt; 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Kompleksitas Kondisi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Kondisi tunggal/sederhana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Beberapa tingkatan kondisi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673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Contoh Kasus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Benar / Salah, Lulus / Gagal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Grade Nilai A / B / C / 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KOMPARASI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IF–ELSE vs IF–ELIF–ELSE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2250"/>
            <a:ext cx="5353050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799457"/>
            <a:ext cx="5314950" cy="2106810"/>
          </a:xfrm>
          <a:prstGeom prst="roundRect">
            <a:avLst>
              <a:gd name="adj" fmla="val 542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34150" y="4144267"/>
            <a:ext cx="4781550" cy="495300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086100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3104257"/>
            <a:ext cx="23812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LATIHAN MANDIRI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Latihan 1: Kategori Umur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048000"/>
            <a:ext cx="6275784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Aturan Kategori Umur: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066157"/>
            <a:ext cx="5657850" cy="238125"/>
          </a:xfrm>
          <a:prstGeom prst="rect">
            <a:avLst/>
          </a:prstGeom>
          <a:noFill/>
        </p:spPr>
        <p:txBody>
          <a:bodyPr wrap="none" lIns="3143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Tugas Siswa: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456682"/>
            <a:ext cx="48768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Tuliskan program Python menggunakan struktur 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IF–ELIF–ELSE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untuk menentukan kategori umur berdasarkan input variabel </a:t>
            </a:r>
            <a:r>
              <a:rPr b="0" sz="1200" i="0" u="none">
                <a:solidFill>
                  <a:srgbClr val="F59E0B"/>
                </a:solidFill>
                <a:latin typeface="Plus Jakarta Sans"/>
              </a:rPr>
              <a:t>umur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8856" y="4296667"/>
            <a:ext cx="567213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[Silakan kerjakan di editor masing-masing]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438525"/>
            <a:ext cx="597693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0 – 12 tahun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➔ Anak-anak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743325"/>
            <a:ext cx="597693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13 – 17 tahun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➔ Remaja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048125"/>
            <a:ext cx="597693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18 – 59 tahun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➔ Dewasa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4352925"/>
            <a:ext cx="597693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60+ tahun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➔ Lansia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8922"/>
            <a:ext cx="5343525" cy="2567880"/>
          </a:xfrm>
          <a:prstGeom prst="roundRect">
            <a:avLst>
              <a:gd name="adj" fmla="val 445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3214687"/>
            <a:ext cx="5324475" cy="1276350"/>
          </a:xfrm>
          <a:prstGeom prst="roundRect">
            <a:avLst>
              <a:gd name="adj" fmla="val 895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3965227"/>
            <a:ext cx="4791075" cy="895350"/>
          </a:xfrm>
          <a:prstGeom prst="roundRect">
            <a:avLst>
              <a:gd name="adj" fmla="val 851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5825" y="3965227"/>
            <a:ext cx="38100" cy="895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KONSEP BARU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Bagaimana Jika Ada Kondisi di Dalam Kondisi?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845147"/>
            <a:ext cx="628828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Nested IF (Percabangan Bersarang)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226147"/>
            <a:ext cx="4886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Nested IF adalah struktur di mana sebuah blok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IF berada di dalam blok IF lainnya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481387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43F5E"/>
                </a:solidFill>
                <a:latin typeface="Fira Code"/>
              </a:rPr>
              <a:t>IF</a:t>
            </a:r>
            <a:r>
              <a:rPr b="0" sz="1500" i="0" u="none">
                <a:solidFill>
                  <a:srgbClr val="38BDF8"/>
                </a:solidFill>
                <a:latin typeface="Fira Code"/>
              </a:rPr>
              <a:t> (Kondisi Utama)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9425" y="3729037"/>
            <a:ext cx="5362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43F5E"/>
                </a:solidFill>
                <a:latin typeface="Fira Code"/>
              </a:rPr>
              <a:t>└── IF</a:t>
            </a:r>
            <a:r>
              <a:rPr b="0" sz="1500" i="0" u="none">
                <a:solidFill>
                  <a:srgbClr val="10B981"/>
                </a:solidFill>
                <a:latin typeface="Fira Code"/>
              </a:rPr>
              <a:t> (Kondisi Kedua)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4225" y="3976687"/>
            <a:ext cx="50577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59E0B"/>
                </a:solidFill>
                <a:latin typeface="Fira Code"/>
              </a:rPr>
              <a:t>└── ELSE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4117627"/>
            <a:ext cx="5560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💡 Analogi Sederhana: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346227"/>
            <a:ext cx="45434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C4A6E"/>
                </a:solidFill>
                <a:latin typeface="Plus Jakarta Sans"/>
              </a:rPr>
              <a:t>Syarat masuk laboratorium TKJ: Cek dulu apakah </a:t>
            </a:r>
            <a:r>
              <a:rPr b="1" sz="1125" i="0" u="none">
                <a:solidFill>
                  <a:srgbClr val="0C4A6E"/>
                </a:solidFill>
                <a:latin typeface="Plus Jakarta Sans"/>
              </a:rPr>
              <a:t>terdaftar</a:t>
            </a:r>
            <a:r>
              <a:rPr b="0" sz="1125" i="0" u="none">
                <a:solidFill>
                  <a:srgbClr val="0C4A6E"/>
                </a:solidFill>
                <a:latin typeface="Plus Jakarta Sans"/>
              </a:rPr>
              <a:t>. Jika ya, cek lagi apakah </a:t>
            </a:r>
            <a:r>
              <a:rPr b="1" sz="1125" i="0" u="none">
                <a:solidFill>
                  <a:srgbClr val="0C4A6E"/>
                </a:solidFill>
                <a:latin typeface="Plus Jakarta Sans"/>
              </a:rPr>
              <a:t>membawa izin</a:t>
            </a:r>
            <a:r>
              <a:rPr b="0" sz="1125" i="0" u="none">
                <a:solidFill>
                  <a:srgbClr val="0C4A6E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66975"/>
            <a:ext cx="5756523" cy="2771775"/>
          </a:xfrm>
          <a:prstGeom prst="roundRect">
            <a:avLst>
              <a:gd name="adj" fmla="val 412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70923" y="2924175"/>
            <a:ext cx="4911476" cy="1857375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STUDI KODE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Contoh Kode Nested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695575"/>
            <a:ext cx="66241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59E0B"/>
                </a:solidFill>
                <a:latin typeface="Fira Code"/>
              </a:rPr>
              <a:t>terdaftar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= 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952750"/>
            <a:ext cx="66241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59E0B"/>
                </a:solidFill>
                <a:latin typeface="Fira Code"/>
              </a:rPr>
              <a:t>izin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= 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67075"/>
            <a:ext cx="66241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43F5E"/>
                </a:solidFill>
                <a:latin typeface="Fira Code"/>
              </a:rPr>
              <a:t>if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terdaftar: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524250"/>
            <a:ext cx="63384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43F5E"/>
                </a:solidFill>
                <a:latin typeface="Fira Code"/>
              </a:rPr>
              <a:t>if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izin: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781425"/>
            <a:ext cx="60526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200" i="0" u="none">
                <a:solidFill>
                  <a:srgbClr val="A3E635"/>
                </a:solidFill>
                <a:latin typeface="Fira Code"/>
              </a:rPr>
              <a:t>"Boleh masuk"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038600"/>
            <a:ext cx="63384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43F5E"/>
                </a:solidFill>
                <a:latin typeface="Fira Code"/>
              </a:rPr>
              <a:t>else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4295775"/>
            <a:ext cx="60526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200" i="0" u="none">
                <a:solidFill>
                  <a:srgbClr val="A3E635"/>
                </a:solidFill>
                <a:latin typeface="Fira Code"/>
              </a:rPr>
              <a:t>"Tidak memiliki izin"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552950"/>
            <a:ext cx="66241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43F5E"/>
                </a:solidFill>
                <a:latin typeface="Fira Code"/>
              </a:rPr>
              <a:t>else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810125"/>
            <a:ext cx="63384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200" i="0" u="none">
                <a:solidFill>
                  <a:srgbClr val="A3E635"/>
                </a:solidFill>
                <a:latin typeface="Fira Code"/>
              </a:rPr>
              <a:t>"Tidak terdaftar"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8573" y="3171825"/>
            <a:ext cx="52734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Alur Eksekusi Kode: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823" y="3502818"/>
            <a:ext cx="952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9073" y="3505200"/>
            <a:ext cx="5082926" cy="261937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Program memeriksa apakah status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terdaftar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bernilai </a:t>
            </a:r>
            <a:r>
              <a:rPr b="1" sz="1125" i="0" u="none">
                <a:solidFill>
                  <a:srgbClr val="0284C7"/>
                </a:solidFill>
                <a:latin typeface="Plus Jakarta Sans"/>
              </a:rPr>
              <a:t>True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5248" y="3764756"/>
            <a:ext cx="1238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9073" y="3767137"/>
            <a:ext cx="4320926" cy="504825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Karena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True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, program masuk ke IF bagian dalam untuk mengecek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izin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5248" y="4269581"/>
            <a:ext cx="1238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9073" y="4271962"/>
            <a:ext cx="5082926" cy="261937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Karena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izin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juga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True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, maka mencetak: </a:t>
            </a:r>
            <a:r>
              <a:rPr b="1" sz="1125" i="0" u="none">
                <a:solidFill>
                  <a:srgbClr val="0F172A"/>
                </a:solidFill>
                <a:latin typeface="Plus Jakarta Sans"/>
              </a:rPr>
              <a:t>"Boleh masuk"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86387" y="2890837"/>
            <a:ext cx="1419225" cy="390525"/>
          </a:xfrm>
          <a:prstGeom prst="roundRect">
            <a:avLst>
              <a:gd name="adj" fmla="val 1951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81487" y="3681412"/>
            <a:ext cx="1285875" cy="390525"/>
          </a:xfrm>
          <a:prstGeom prst="roundRect">
            <a:avLst>
              <a:gd name="adj" fmla="val 1951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00850" y="3681412"/>
            <a:ext cx="1733550" cy="390525"/>
          </a:xfrm>
          <a:prstGeom prst="roundRect">
            <a:avLst>
              <a:gd name="adj" fmla="val 19512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4462462"/>
            <a:ext cx="1333500" cy="352425"/>
          </a:xfrm>
          <a:prstGeom prst="roundRect">
            <a:avLst>
              <a:gd name="adj" fmla="val 1621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95900" y="4462462"/>
            <a:ext cx="895350" cy="352425"/>
          </a:xfrm>
          <a:prstGeom prst="roundRect">
            <a:avLst>
              <a:gd name="adj" fmla="val 16216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FLOWCHART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Cara Kerja Nested 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4987" y="2986087"/>
            <a:ext cx="1057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TERDAFTAR?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8700" y="3433762"/>
            <a:ext cx="457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987" y="3776662"/>
            <a:ext cx="1000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PUNYA IZIN?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7600" y="3433762"/>
            <a:ext cx="685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TIDAK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3776662"/>
            <a:ext cx="1447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E123C"/>
                </a:solidFill>
                <a:latin typeface="Plus Jakarta Sans"/>
              </a:rPr>
              <a:t>TIDAK TERDAFTAR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0912" y="4224337"/>
            <a:ext cx="1666875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Plus Jakarta Sans"/>
              </a:rPr>
              <a:t>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3025" y="4224337"/>
            <a:ext cx="11811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EF4444"/>
                </a:solidFill>
                <a:latin typeface="Plus Jakarta Sans"/>
              </a:rPr>
              <a:t>TIDAK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5212" y="4538662"/>
            <a:ext cx="1438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5803D"/>
                </a:solidFill>
                <a:latin typeface="Plus Jakarta Sans"/>
              </a:rPr>
              <a:t>BOLEH MASUK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7325" y="4538662"/>
            <a:ext cx="95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BE123C"/>
                </a:solidFill>
                <a:latin typeface="Plus Jakarta Sans"/>
              </a:rPr>
              <a:t>DITOLAK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09925"/>
            <a:ext cx="4911476" cy="1285875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25876" y="2786062"/>
            <a:ext cx="5756523" cy="21336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495675"/>
            <a:ext cx="190500" cy="17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PENERAPAN TKJ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Nested IF dalam Dunia TKJ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457575"/>
            <a:ext cx="5796232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Studi Kasus: Cek Komputer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790950"/>
            <a:ext cx="45114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Sebelum memulai praktikum jaringan, komputer harus dipastikan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menyala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dan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terhubung ke internet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4476" y="3014662"/>
            <a:ext cx="613752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43F5E"/>
                </a:solidFill>
                <a:latin typeface="Fira Code"/>
              </a:rPr>
              <a:t>if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 komputer_menyala: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4976" y="3262312"/>
            <a:ext cx="594702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43F5E"/>
                </a:solidFill>
                <a:latin typeface="Fira Code"/>
              </a:rPr>
              <a:t>if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 internet_terhubung: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5476" y="3509962"/>
            <a:ext cx="575652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125" i="0" u="none">
                <a:solidFill>
                  <a:srgbClr val="A3E635"/>
                </a:solidFill>
                <a:latin typeface="Fira Code"/>
              </a:rPr>
              <a:t>"SIAP DIGUNAKAN"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4976" y="3757612"/>
            <a:ext cx="594702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43F5E"/>
                </a:solidFill>
                <a:latin typeface="Fira Code"/>
              </a:rPr>
              <a:t>else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5476" y="4005262"/>
            <a:ext cx="575652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125" i="0" u="none">
                <a:solidFill>
                  <a:srgbClr val="A3E635"/>
                </a:solidFill>
                <a:latin typeface="Fira Code"/>
              </a:rPr>
              <a:t>"CEK JARINGAN"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4476" y="4252912"/>
            <a:ext cx="613752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43F5E"/>
                </a:solidFill>
                <a:latin typeface="Fira Code"/>
              </a:rPr>
              <a:t>else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4976" y="4500562"/>
            <a:ext cx="594702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0B981"/>
                </a:solidFill>
                <a:latin typeface="Fira Code"/>
              </a:rPr>
              <a:t>print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(</a:t>
            </a:r>
            <a:r>
              <a:rPr b="0" sz="1125" i="0" u="none">
                <a:solidFill>
                  <a:srgbClr val="A3E635"/>
                </a:solidFill>
                <a:latin typeface="Fira Code"/>
              </a:rPr>
              <a:t>"Nyalakan komputer terlebih dahulu"</a:t>
            </a:r>
            <a:r>
              <a:rPr b="0" sz="1125" i="0" u="none">
                <a:solidFill>
                  <a:srgbClr val="F8FAFC"/>
                </a:solidFill>
                <a:latin typeface="Fira Code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3272"/>
            <a:ext cx="5372100" cy="1539180"/>
          </a:xfrm>
          <a:prstGeom prst="roundRect">
            <a:avLst>
              <a:gd name="adj" fmla="val 74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61382"/>
            <a:ext cx="5372100" cy="178296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083272"/>
            <a:ext cx="53721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6300" y="4117627"/>
            <a:ext cx="2505075" cy="28575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0300" y="2961382"/>
            <a:ext cx="5372100" cy="5715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77000" y="4239517"/>
            <a:ext cx="2705100" cy="28575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PANDUAN PEMILIHAN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IF–ELIF–ELSE atau Nested IF?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407122"/>
            <a:ext cx="63507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Pilih IF–ELIF–ELSE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759547"/>
            <a:ext cx="6048375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Digunakan ketika terdapat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beberapa pilihan kondisi yang sejajar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174777"/>
            <a:ext cx="23717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Contoh: Menentukan Nilai A/B/C/D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3285232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Pilih Nested 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637657"/>
            <a:ext cx="49339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Digunakan ketika suatu kondisi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hanya diperiksa jika kondisi sebelumnya terpenuhi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4296667"/>
            <a:ext cx="2571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E22CE"/>
                </a:solidFill>
                <a:latin typeface="Plus Jakarta Sans"/>
              </a:rPr>
              <a:t>Contoh: Login (Username ➔ Password)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7950"/>
            <a:ext cx="5353050" cy="2409825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804219"/>
            <a:ext cx="5314950" cy="2097285"/>
          </a:xfrm>
          <a:prstGeom prst="roundRect">
            <a:avLst>
              <a:gd name="adj" fmla="val 54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34150" y="4139505"/>
            <a:ext cx="4781550" cy="495300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97180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Plus Jakarta Sans"/>
              </a:rPr>
              <a:t>CODING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Latihan 2: Login Sederhana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2933700"/>
            <a:ext cx="6275784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Aturan Sistem Login: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070919"/>
            <a:ext cx="56578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Tugas: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461444"/>
            <a:ext cx="48768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Buatlah program Python menggunakan struktur 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Nested IF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yang memenuhi semua aturan di samping.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8856" y="4291905"/>
            <a:ext cx="567213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[Silakan kerjakan di editor masing-masing]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3324225"/>
            <a:ext cx="597693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1. Cek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username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terlebih dahulu.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619500"/>
            <a:ext cx="597693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2. Jika username benar, cek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password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914775"/>
            <a:ext cx="59769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3. Keduanya benar ➔ </a:t>
            </a:r>
            <a:r>
              <a:rPr b="1" sz="1125" i="0" u="none">
                <a:solidFill>
                  <a:srgbClr val="0F172A"/>
                </a:solidFill>
                <a:latin typeface="Plus Jakarta Sans"/>
              </a:rPr>
              <a:t>"Login berhasil"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200525"/>
            <a:ext cx="59769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4. Password salah ➔ </a:t>
            </a:r>
            <a:r>
              <a:rPr b="1" sz="1125" i="0" u="none">
                <a:solidFill>
                  <a:srgbClr val="EF4444"/>
                </a:solidFill>
                <a:latin typeface="Plus Jakarta Sans"/>
              </a:rPr>
              <a:t>"Password salah"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4486275"/>
            <a:ext cx="59769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5. Username salah ➔ </a:t>
            </a:r>
            <a:r>
              <a:rPr b="1" sz="1125" i="0" u="none">
                <a:solidFill>
                  <a:srgbClr val="EF4444"/>
                </a:solidFill>
                <a:latin typeface="Plus Jakarta Sans"/>
              </a:rPr>
              <a:t>"Username salah"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4925"/>
            <a:ext cx="10972800" cy="5095875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5825" y="3625155"/>
            <a:ext cx="10420350" cy="1095375"/>
          </a:xfrm>
          <a:prstGeom prst="roundRect">
            <a:avLst>
              <a:gd name="adj" fmla="val 69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5825" y="3625155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PROBLEM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Studi Kasus TKJ: Komputer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594669"/>
            <a:ext cx="11306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Skenario Troubleshooting: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947094"/>
            <a:ext cx="105156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Komputer di laboratorium TKJ digunakan untuk pembelajaran jaringan. Anda diminta membuat program otomatisasi untuk memeriksa apakah komputer siap digunakan.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911030"/>
            <a:ext cx="11306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Tentukan jenis percabangan yang paling sesuai dan buatkan pseudocode / program sederhananya!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815655"/>
            <a:ext cx="110775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Kondisi yang Diperiksa: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8725" y="407283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4925" y="4072830"/>
            <a:ext cx="1088707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Periksa apakah komputer menyala.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8725" y="430143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4925" y="4301430"/>
            <a:ext cx="1088707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Jika menyala, periksa koneksi internet (Terhubung ➔ "Siap digunakan" | Tidak ➔ "Periksa jaringan").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1312"/>
            <a:ext cx="5266878" cy="80962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28878" y="2881312"/>
            <a:ext cx="5266878" cy="80962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43337"/>
            <a:ext cx="5266878" cy="981075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28878" y="3843337"/>
            <a:ext cx="5266878" cy="981075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Hindari Kesalahan Umum Ini!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081337"/>
            <a:ext cx="60835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E123C"/>
                </a:solidFill>
                <a:latin typeface="Plus Jakarta Sans"/>
              </a:rPr>
              <a:t>❌ Lupa Tanda Titik Dua ( :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319462"/>
            <a:ext cx="608353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Setiap pernyataan if, elif, else wajib menggunakan titik dua di akhir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8903" y="3081337"/>
            <a:ext cx="59630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E123C"/>
                </a:solidFill>
                <a:latin typeface="Plus Jakarta Sans"/>
              </a:rPr>
              <a:t>❌ Indentasi Tidak Konsisten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8903" y="3319462"/>
            <a:ext cx="59630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Python sangat sensitif terhadap spasi/tab pada blok kode.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043362"/>
            <a:ext cx="60835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E123C"/>
                </a:solidFill>
                <a:latin typeface="Plus Jakarta Sans"/>
              </a:rPr>
              <a:t>❌ Tertukar = dan ==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281487"/>
            <a:ext cx="608353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=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untuk pemberian nilai, sedangkan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==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untuk perbandingan.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8903" y="4043362"/>
            <a:ext cx="59630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E123C"/>
                </a:solidFill>
                <a:latin typeface="Plus Jakarta Sans"/>
              </a:rPr>
              <a:t>❌ Urutan Kondisi Acak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8903" y="4281487"/>
            <a:ext cx="496207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Menaruh kondisi umum sebelum kondisi spesifik dapat menyebabkan logic bug.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14587"/>
            <a:ext cx="4883794" cy="2876550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98194" y="2933700"/>
            <a:ext cx="5784205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98194" y="2933700"/>
            <a:ext cx="38100" cy="1838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27548" y="3024187"/>
            <a:ext cx="1047750" cy="390525"/>
          </a:xfrm>
          <a:prstGeom prst="roundRect">
            <a:avLst>
              <a:gd name="adj" fmla="val 1463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9423" y="3843337"/>
            <a:ext cx="1524000" cy="390525"/>
          </a:xfrm>
          <a:prstGeom prst="roundRect">
            <a:avLst>
              <a:gd name="adj" fmla="val 1463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2298" y="4662487"/>
            <a:ext cx="1238250" cy="390525"/>
          </a:xfrm>
          <a:prstGeom prst="roundRect">
            <a:avLst>
              <a:gd name="adj" fmla="val 14634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273" y="3548062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273" y="4367212"/>
            <a:ext cx="1143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REVIEW AKHIR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Apa yang Kita Pelajari?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652712"/>
            <a:ext cx="57849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Roadmap Pemahaman: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4894" y="3162300"/>
            <a:ext cx="612710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Pertanyaan Refleksi: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8048" y="31194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Fira Code"/>
              </a:rPr>
              <a:t>IF–ELSE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9923" y="3938587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Fira Code"/>
              </a:rPr>
              <a:t>IF–ELIF–ELSE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2798" y="4757737"/>
            <a:ext cx="95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E22CE"/>
                </a:solidFill>
                <a:latin typeface="Fira Code"/>
              </a:rPr>
              <a:t>NESTED 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9194" y="349567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394" y="3495675"/>
            <a:ext cx="5936605" cy="2762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Apa fungsi utama perintah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elif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9194" y="3771900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394" y="3771900"/>
            <a:ext cx="5936605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Apa perbedaan mendasar antara IF–ELSE dan IF–ELIF–ELSE?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9194" y="402907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394" y="4029075"/>
            <a:ext cx="5936605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Apa yang dimaksud dengan Nested IF?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9194" y="4286250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394" y="4286250"/>
            <a:ext cx="5936605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Kapan kita harus memilih menggunakan Nested IF?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62450" y="3322290"/>
            <a:ext cx="3467100" cy="5524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38500" y="4789140"/>
            <a:ext cx="5715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0" y="4789140"/>
            <a:ext cx="571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1735484"/>
            <a:ext cx="228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KESIMPULAN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2087909"/>
            <a:ext cx="10001250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PROGRAM BISA MENGAMBIL KEPUTUSAN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07656" y="4179540"/>
            <a:ext cx="39766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Plus Jakarta Sans"/>
              </a:rPr>
              <a:t>IF–ELSE  ➔  IF–ELIF–ELSE  ➔  NESTED 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0062" y="3474690"/>
            <a:ext cx="3571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59E0B"/>
                </a:solidFill>
                <a:latin typeface="Fira Code"/>
              </a:rPr>
              <a:t>JIKA ➔ MAKA ➔ JIKA TIDAK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4125" y="4951065"/>
            <a:ext cx="714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Pemrograman Dasar | Kelas X TKJ SMK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4573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1100" y="10287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475" y="1495425"/>
            <a:ext cx="9915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https://images.stockcake.com/public/b/a/1/ba142214-b7a6-4eaa-86e4-df50f7713596_medium/coding-work-environments-stockcake.jpg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475" y="1695450"/>
            <a:ext cx="2178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